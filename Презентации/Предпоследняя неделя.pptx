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5C27E1-0AFB-4304-B88D-DFC57CFE70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1D0721-E6BB-42BB-BF79-62EF76C531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A24B14-4BBA-4D2A-98A1-92D36254569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540360" y="3420000"/>
            <a:ext cx="907164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Неделя ….. предпоследняя ??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458520" y="720000"/>
            <a:ext cx="3054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Учебно-практический проект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00360" y="1281960"/>
            <a:ext cx="7920000" cy="204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spAutoFit/>
          </a:bodyPr>
          <a:p>
            <a:pPr algn="ctr"/>
            <a:r>
              <a:rPr lang="ru-RU" sz="3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БАЗА ДАННЫХ О ГАРАНТИЙНЫХ РЕМОНТАХ ПРОДУКЦИИ ПРЕДПРИЯТИЯ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468720" y="15192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lang="ru-RU" sz="6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ОБЗОР ИЗМЕНЕНИЙ</a:t>
            </a:r>
            <a:endParaRPr lang="ru-RU" sz="6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20000" y="2700000"/>
            <a:ext cx="8036280" cy="1370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Загрузка кодов в семерки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Объединение документов загрузки продаж и производства в один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Исправление ошибки при проведении документа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684000" y="1642320"/>
            <a:ext cx="6093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Стиральная машина RENOVA WS-35 Е — пр-во Россия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84000" y="2830320"/>
            <a:ext cx="20948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RENOVA WS-35 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84000" y="3685680"/>
            <a:ext cx="24501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RENOVA WS- 40 РЕТ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76800" y="1224000"/>
            <a:ext cx="2059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Строка в файле: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84000" y="396000"/>
            <a:ext cx="294624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Загрузка кодов 1С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76800" y="2412000"/>
            <a:ext cx="2950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Элемент в справочнике: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20000" y="3312000"/>
            <a:ext cx="790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* * *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76000" y="2722320"/>
            <a:ext cx="2340000" cy="540000"/>
          </a:xfrm>
          <a:prstGeom prst="ellipse">
            <a:avLst/>
          </a:prstGeom>
          <a:noFill/>
          <a:ln w="38160">
            <a:solidFill>
              <a:srgbClr val="1584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2736000" y="1548000"/>
            <a:ext cx="2340000" cy="540000"/>
          </a:xfrm>
          <a:prstGeom prst="ellipse">
            <a:avLst/>
          </a:prstGeom>
          <a:noFill/>
          <a:ln w="38160">
            <a:solidFill>
              <a:srgbClr val="1584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" name=""/>
          <p:cNvCxnSpPr>
            <a:stCxn id="23" idx="6"/>
            <a:endCxn id="24" idx="4"/>
          </p:cNvCxnSpPr>
          <p:nvPr/>
        </p:nvCxnSpPr>
        <p:spPr>
          <a:xfrm flipV="1">
            <a:off x="2916000" y="2088000"/>
            <a:ext cx="990360" cy="904680"/>
          </a:xfrm>
          <a:prstGeom prst="straightConnector1">
            <a:avLst/>
          </a:prstGeom>
          <a:ln w="29160">
            <a:solidFill>
              <a:srgbClr val="158466"/>
            </a:solidFill>
            <a:round/>
            <a:tailEnd len="med" type="triangle" w="med"/>
          </a:ln>
        </p:spPr>
      </p:cxnSp>
      <p:sp>
        <p:nvSpPr>
          <p:cNvPr id="26" name=""/>
          <p:cNvSpPr txBox="1"/>
          <p:nvPr/>
        </p:nvSpPr>
        <p:spPr>
          <a:xfrm>
            <a:off x="4680000" y="3060000"/>
            <a:ext cx="5040000" cy="213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lang="ru-RU" sz="1400" b="0" u="none" strike="noStrike">
                <a:solidFill>
                  <a:srgbClr val="8d281e"/>
                </a:solidFill>
                <a:effectLst/>
                <a:uFillTx/>
                <a:latin typeface="Arial"/>
              </a:rPr>
              <a:t> Убрать все символы кроме значащих (пробелы, табуляцию, тире)</a:t>
            </a:r>
            <a:endParaRPr lang="ru-RU" sz="1400" b="0" u="none" strike="noStrike">
              <a:solidFill>
                <a:srgbClr val="8d281e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endParaRPr lang="ru-RU" sz="1400" b="0" u="none" strike="noStrike">
              <a:solidFill>
                <a:srgbClr val="8d281e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lang="ru-RU" sz="1400" b="0" u="none" strike="noStrike">
                <a:solidFill>
                  <a:srgbClr val="8d281e"/>
                </a:solidFill>
                <a:effectLst/>
                <a:uFillTx/>
                <a:latin typeface="Arial"/>
              </a:rPr>
              <a:t> Привести к одному регистру</a:t>
            </a:r>
            <a:endParaRPr lang="ru-RU" sz="1400" b="0" u="none" strike="noStrike">
              <a:solidFill>
                <a:srgbClr val="8d281e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endParaRPr lang="ru-RU" sz="1400" b="0" u="none" strike="noStrike">
              <a:solidFill>
                <a:srgbClr val="8d281e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lang="ru-RU" sz="1400" b="0" u="none" strike="noStrike">
                <a:solidFill>
                  <a:srgbClr val="8d281e"/>
                </a:solidFill>
                <a:effectLst/>
                <a:uFillTx/>
                <a:latin typeface="Arial"/>
              </a:rPr>
              <a:t> Привести к одному алфавиту символы с одинаковым написанием (например «Е» на кириллице не равно «Е» на латинице) </a:t>
            </a:r>
            <a:endParaRPr lang="ru-RU" sz="1400" b="0" u="none" strike="noStrike">
              <a:solidFill>
                <a:srgbClr val="8d281e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726080" y="2641680"/>
            <a:ext cx="34099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8d281e"/>
                </a:solidFill>
                <a:effectLst/>
                <a:uFillTx/>
                <a:latin typeface="Arial"/>
              </a:rPr>
              <a:t>Алгоритм подготовки строк: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435960" y="180000"/>
            <a:ext cx="8742960" cy="52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 txBox="1"/>
          <p:nvPr/>
        </p:nvSpPr>
        <p:spPr>
          <a:xfrm>
            <a:off x="684000" y="1642320"/>
            <a:ext cx="6589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Стиральная машина RENOVA WS-35 Е (BL) — пр-во Россия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84000" y="2830320"/>
            <a:ext cx="20948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RENOVA WS-35 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84000" y="3685680"/>
            <a:ext cx="2590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RENOVA WS-35 E (BL)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76800" y="1224000"/>
            <a:ext cx="2059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Строка в файле: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84000" y="396000"/>
            <a:ext cx="294624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Загрузка кодов 1С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76800" y="2412000"/>
            <a:ext cx="2950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Элемент в справочнике: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20000" y="3312000"/>
            <a:ext cx="790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* * *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76000" y="2722320"/>
            <a:ext cx="2340000" cy="540000"/>
          </a:xfrm>
          <a:prstGeom prst="ellipse">
            <a:avLst/>
          </a:prstGeom>
          <a:noFill/>
          <a:ln w="38160">
            <a:solidFill>
              <a:srgbClr val="ff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2736000" y="1548000"/>
            <a:ext cx="3024000" cy="540000"/>
          </a:xfrm>
          <a:prstGeom prst="ellipse">
            <a:avLst/>
          </a:prstGeom>
          <a:noFill/>
          <a:ln w="38160">
            <a:solidFill>
              <a:srgbClr val="ff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" name=""/>
          <p:cNvCxnSpPr>
            <a:stCxn id="36" idx="6"/>
            <a:endCxn id="37" idx="4"/>
          </p:cNvCxnSpPr>
          <p:nvPr/>
        </p:nvCxnSpPr>
        <p:spPr>
          <a:xfrm flipV="1">
            <a:off x="2916000" y="2088000"/>
            <a:ext cx="1332360" cy="904680"/>
          </a:xfrm>
          <a:prstGeom prst="straightConnector1">
            <a:avLst/>
          </a:prstGeom>
          <a:ln w="29160">
            <a:solidFill>
              <a:srgbClr val="ff3838"/>
            </a:solidFill>
            <a:round/>
            <a:tailEnd len="med" type="triangle" w="med"/>
          </a:ln>
        </p:spPr>
      </p:cxnSp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5331240" y="2579400"/>
            <a:ext cx="3668760" cy="246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504000" y="396360"/>
            <a:ext cx="590040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Один документ — два представления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576000" y="1030320"/>
            <a:ext cx="2308680" cy="364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/>
          <p:cNvPicPr/>
          <p:nvPr/>
        </p:nvPicPr>
        <p:blipFill>
          <a:blip r:embed="rId2"/>
          <a:stretch/>
        </p:blipFill>
        <p:spPr>
          <a:xfrm>
            <a:off x="4033800" y="1080000"/>
            <a:ext cx="5326200" cy="281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"/>
          <p:cNvSpPr/>
          <p:nvPr/>
        </p:nvSpPr>
        <p:spPr>
          <a:xfrm>
            <a:off x="720000" y="3240000"/>
            <a:ext cx="2340000" cy="1620000"/>
          </a:xfrm>
          <a:prstGeom prst="rect">
            <a:avLst/>
          </a:prstGeom>
          <a:noFill/>
          <a:ln w="29160">
            <a:solidFill>
              <a:srgbClr val="ff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4320000" y="3276000"/>
            <a:ext cx="1800000" cy="540000"/>
          </a:xfrm>
          <a:prstGeom prst="rect">
            <a:avLst/>
          </a:prstGeom>
          <a:noFill/>
          <a:ln w="29160">
            <a:solidFill>
              <a:srgbClr val="ff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300000" y="2880000"/>
            <a:ext cx="2160000" cy="540000"/>
          </a:xfrm>
          <a:prstGeom prst="rect">
            <a:avLst/>
          </a:prstGeom>
          <a:noFill/>
          <a:ln w="29160">
            <a:solidFill>
              <a:srgbClr val="ff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 txBox="1"/>
          <p:nvPr/>
        </p:nvSpPr>
        <p:spPr>
          <a:xfrm>
            <a:off x="504000" y="396360"/>
            <a:ext cx="590040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Один документ — два представления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"/>
          <p:cNvPicPr/>
          <p:nvPr/>
        </p:nvPicPr>
        <p:blipFill>
          <a:blip r:embed="rId1"/>
          <a:stretch/>
        </p:blipFill>
        <p:spPr>
          <a:xfrm>
            <a:off x="535680" y="1156680"/>
            <a:ext cx="9148320" cy="170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"/>
          <p:cNvPicPr/>
          <p:nvPr/>
        </p:nvPicPr>
        <p:blipFill>
          <a:blip r:embed="rId2"/>
          <a:stretch/>
        </p:blipFill>
        <p:spPr>
          <a:xfrm>
            <a:off x="540000" y="3018600"/>
            <a:ext cx="9148320" cy="202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/>
          <p:cNvPicPr/>
          <p:nvPr/>
        </p:nvPicPr>
        <p:blipFill>
          <a:blip r:embed="rId1"/>
          <a:stretch/>
        </p:blipFill>
        <p:spPr>
          <a:xfrm>
            <a:off x="1954440" y="511920"/>
            <a:ext cx="5954760" cy="146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"/>
          <p:cNvPicPr/>
          <p:nvPr/>
        </p:nvPicPr>
        <p:blipFill>
          <a:blip r:embed="rId2"/>
          <a:stretch/>
        </p:blipFill>
        <p:spPr>
          <a:xfrm>
            <a:off x="180000" y="2357640"/>
            <a:ext cx="5645520" cy="214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"/>
          <p:cNvPicPr/>
          <p:nvPr/>
        </p:nvPicPr>
        <p:blipFill>
          <a:blip r:embed="rId3"/>
          <a:stretch/>
        </p:blipFill>
        <p:spPr>
          <a:xfrm>
            <a:off x="3600000" y="3587040"/>
            <a:ext cx="6120000" cy="18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180000" y="2160000"/>
            <a:ext cx="95400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80000" y="540000"/>
            <a:ext cx="1160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Команда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008560" y="2281680"/>
            <a:ext cx="17834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Форма списка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/>
          <p:cNvPicPr/>
          <p:nvPr/>
        </p:nvPicPr>
        <p:blipFill>
          <a:blip r:embed="rId1"/>
          <a:stretch/>
        </p:blipFill>
        <p:spPr>
          <a:xfrm>
            <a:off x="396000" y="756720"/>
            <a:ext cx="4149360" cy="111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"/>
          <p:cNvPicPr/>
          <p:nvPr/>
        </p:nvPicPr>
        <p:blipFill>
          <a:blip r:embed="rId2"/>
          <a:stretch/>
        </p:blipFill>
        <p:spPr>
          <a:xfrm>
            <a:off x="684000" y="3420000"/>
            <a:ext cx="5220000" cy="187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"/>
          <p:cNvPicPr/>
          <p:nvPr/>
        </p:nvPicPr>
        <p:blipFill>
          <a:blip r:embed="rId3"/>
          <a:stretch/>
        </p:blipFill>
        <p:spPr>
          <a:xfrm>
            <a:off x="360000" y="2207160"/>
            <a:ext cx="4236120" cy="121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"/>
          <p:cNvSpPr txBox="1"/>
          <p:nvPr/>
        </p:nvSpPr>
        <p:spPr>
          <a:xfrm>
            <a:off x="3672000" y="396720"/>
            <a:ext cx="22053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Форма документа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868000" y="360000"/>
            <a:ext cx="0" cy="504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999400" y="409680"/>
            <a:ext cx="23886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Модуль менеджера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/>
          <p:cNvPicPr/>
          <p:nvPr/>
        </p:nvPicPr>
        <p:blipFill>
          <a:blip r:embed="rId4"/>
          <a:stretch/>
        </p:blipFill>
        <p:spPr>
          <a:xfrm>
            <a:off x="6044400" y="956880"/>
            <a:ext cx="3603600" cy="300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540000" y="878040"/>
            <a:ext cx="521136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 txBox="1"/>
          <p:nvPr/>
        </p:nvSpPr>
        <p:spPr>
          <a:xfrm>
            <a:off x="288000" y="288720"/>
            <a:ext cx="560808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Ошибка при проведении документа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940000" y="1080000"/>
            <a:ext cx="3960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 проведении нового, предварительно не записанного документа сначала происходит проверка заполнения и лишь потом запись.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468360" y="23108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lang="ru-RU" sz="6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ЗАДАЧИ</a:t>
            </a:r>
            <a:endParaRPr lang="ru-RU" sz="6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/>
          <p:cNvPicPr/>
          <p:nvPr/>
        </p:nvPicPr>
        <p:blipFill>
          <a:blip r:embed="rId1"/>
          <a:stretch/>
        </p:blipFill>
        <p:spPr>
          <a:xfrm>
            <a:off x="5966640" y="3060000"/>
            <a:ext cx="3393360" cy="218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"/>
          <p:cNvPicPr/>
          <p:nvPr/>
        </p:nvPicPr>
        <p:blipFill>
          <a:blip r:embed="rId2"/>
          <a:stretch/>
        </p:blipFill>
        <p:spPr>
          <a:xfrm>
            <a:off x="4140000" y="900000"/>
            <a:ext cx="2880000" cy="185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/>
          <p:cNvPicPr/>
          <p:nvPr/>
        </p:nvPicPr>
        <p:blipFill>
          <a:blip r:embed="rId3"/>
          <a:stretch/>
        </p:blipFill>
        <p:spPr>
          <a:xfrm>
            <a:off x="180000" y="399240"/>
            <a:ext cx="3032280" cy="230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/>
          <p:cNvPicPr/>
          <p:nvPr/>
        </p:nvPicPr>
        <p:blipFill>
          <a:blip r:embed="rId4"/>
          <a:stretch/>
        </p:blipFill>
        <p:spPr>
          <a:xfrm>
            <a:off x="1080000" y="2880000"/>
            <a:ext cx="2878920" cy="153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68000" y="2102760"/>
            <a:ext cx="9071640" cy="136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9600" b="1" u="none" strike="noStrike">
                <a:solidFill>
                  <a:srgbClr val="f10d0c"/>
                </a:solidFill>
                <a:effectLst/>
                <a:uFillTx/>
                <a:latin typeface="Arial"/>
              </a:rPr>
              <a:t>ОТЧЕТЫ</a:t>
            </a:r>
            <a:endParaRPr lang="ru-RU" sz="9600" b="1" u="none" strike="noStrike">
              <a:solidFill>
                <a:srgbClr val="f10d0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"/>
          <p:cNvGraphicFramePr/>
          <p:nvPr/>
        </p:nvGraphicFramePr>
        <p:xfrm>
          <a:off x="360000" y="2387520"/>
          <a:ext cx="6840000" cy="1127520"/>
        </p:xfrm>
        <a:graphic>
          <a:graphicData uri="http://schemas.openxmlformats.org/drawingml/2006/table">
            <a:tbl>
              <a:tblPr/>
              <a:tblGrid>
                <a:gridCol w="328320"/>
                <a:gridCol w="2146680"/>
                <a:gridCol w="999720"/>
                <a:gridCol w="925920"/>
                <a:gridCol w="1056960"/>
                <a:gridCol w="1382400"/>
              </a:tblGrid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№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Вид продукции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Продано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Списано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 ремонте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Затраты на ремонт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Стиральные машины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 anchorCtr="1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120 345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112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1 231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978 569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Морозильные лари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 anchorCtr="1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3 456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856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234 589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Сушилки для овощей и фруктов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 anchorCtr="1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1 982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67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311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184 782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2" name=""/>
          <p:cNvSpPr txBox="1"/>
          <p:nvPr/>
        </p:nvSpPr>
        <p:spPr>
          <a:xfrm>
            <a:off x="282600" y="2041200"/>
            <a:ext cx="6894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2025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"/>
          <p:cNvGraphicFramePr/>
          <p:nvPr/>
        </p:nvGraphicFramePr>
        <p:xfrm>
          <a:off x="350280" y="558000"/>
          <a:ext cx="6840000" cy="1127520"/>
        </p:xfrm>
        <a:graphic>
          <a:graphicData uri="http://schemas.openxmlformats.org/drawingml/2006/table">
            <a:tbl>
              <a:tblPr/>
              <a:tblGrid>
                <a:gridCol w="328320"/>
                <a:gridCol w="2146680"/>
                <a:gridCol w="999720"/>
                <a:gridCol w="925920"/>
                <a:gridCol w="1056960"/>
                <a:gridCol w="1382400"/>
              </a:tblGrid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№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Вид продукции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Продано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Списано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 ремонте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Затраты на ремонт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Стиральные машины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 anchorCtr="1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Морозильные лари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 anchorCtr="1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Сушилки для овощей и фруктов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 anchorCtr="1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4" name=""/>
          <p:cNvSpPr txBox="1"/>
          <p:nvPr/>
        </p:nvSpPr>
        <p:spPr>
          <a:xfrm>
            <a:off x="274680" y="178920"/>
            <a:ext cx="6894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7470000" y="324000"/>
            <a:ext cx="2358000" cy="21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/>
          <p:cNvPicPr/>
          <p:nvPr/>
        </p:nvPicPr>
        <p:blipFill>
          <a:blip r:embed="rId2"/>
          <a:stretch/>
        </p:blipFill>
        <p:spPr>
          <a:xfrm>
            <a:off x="7497360" y="2729160"/>
            <a:ext cx="2351160" cy="21668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77" name=""/>
          <p:cNvGraphicFramePr/>
          <p:nvPr/>
        </p:nvGraphicFramePr>
        <p:xfrm>
          <a:off x="374400" y="4217400"/>
          <a:ext cx="4485600" cy="1224360"/>
        </p:xfrm>
        <a:graphic>
          <a:graphicData uri="http://schemas.openxmlformats.org/drawingml/2006/table">
            <a:tbl>
              <a:tblPr/>
              <a:tblGrid>
                <a:gridCol w="305640"/>
                <a:gridCol w="2928240"/>
                <a:gridCol w="1251720"/>
              </a:tblGrid>
              <a:tr h="28404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№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Документ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Фирма/фабрика</a:t>
                      </a:r>
                      <a:endParaRPr lang="ru-RU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Отчет о продажах 00001 от 12.01.2026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Запад Нова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Отчет о производстве 000004 от 23.02.2026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Новасиб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Отчет о продажах 00003 от 13.01.2026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Запад Нова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" name=""/>
          <p:cNvSpPr txBox="1"/>
          <p:nvPr/>
        </p:nvSpPr>
        <p:spPr>
          <a:xfrm>
            <a:off x="263880" y="3960000"/>
            <a:ext cx="29041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Отчеты о продажах и производстве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220000" y="4284000"/>
            <a:ext cx="1800000" cy="36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000000"/>
            </a:solidFill>
          </a:ln>
          <a:effectLst>
            <a:outerShdw dist="36147" dir="270000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Отчет о продажах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148000" y="3960000"/>
            <a:ext cx="807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Создать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220000" y="4788000"/>
            <a:ext cx="1800000" cy="36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000000"/>
            </a:solidFill>
          </a:ln>
          <a:effectLst>
            <a:outerShdw dist="36147" dir="270000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Отчет о производстве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2026-04-07T17:54:28Z</dcterms:created>
  <dc:creator/>
  <dc:description/>
  <dc:language>ru-RU</dc:language>
  <cp:lastModifiedBy/>
  <dcterms:modified xsi:type="dcterms:W3CDTF">2026-04-07T19:29:13Z</dcterms:modified>
  <cp:revision>10</cp:revision>
  <dc:subject/>
  <dc:title/>
</cp:coreProperties>
</file>